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2" r:id="rId2"/>
    <p:sldId id="274" r:id="rId3"/>
    <p:sldId id="275" r:id="rId4"/>
    <p:sldId id="276" r:id="rId5"/>
    <p:sldId id="269" r:id="rId6"/>
    <p:sldId id="273" r:id="rId7"/>
    <p:sldId id="27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nhaddad\AppData\Local\Microsoft\Windows\INetCache\Content.Outlook\UZPYSBSV\Top%205%20Cost%20Categories%20(Materials%20%20Maintenance)%20in%20GCs%20for%2021-11-202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nhaddad\AppData\Local\Microsoft\Windows\INetCache\Content.Outlook\UZPYSBSV\Top%205%20Cost%20Categories%20(Materials%20%20Maintenance)%20in%20GCs%20for%2021-11-2025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nhaddad\AppData\Local\Microsoft\Windows\INetCache\Content.Outlook\UZPYSBSV\Top%205%20Cost%20Categories%20(Materials%20%20Maintenance)%20in%20GCs%20for%2021-11-2025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nhaddad\AppData\Local\Microsoft\Windows\INetCache\Content.Outlook\UZPYSBSV\Top%205%20Cost%20Categories%20(Materials%20%20Maintenance)%20in%20GCs%20for%2021-11-2025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NK!$B$10:$C$16</c:f>
              <c:multiLvlStrCache>
                <c:ptCount val="7"/>
                <c:lvl>
                  <c:pt idx="0">
                    <c:v>GC30</c:v>
                  </c:pt>
                  <c:pt idx="1">
                    <c:v>GC25</c:v>
                  </c:pt>
                  <c:pt idx="2">
                    <c:v>GC15</c:v>
                  </c:pt>
                  <c:pt idx="3">
                    <c:v>GC29</c:v>
                  </c:pt>
                  <c:pt idx="4">
                    <c:v>GC23</c:v>
                  </c:pt>
                  <c:pt idx="5">
                    <c:v>GC24</c:v>
                  </c:pt>
                  <c:pt idx="6">
                    <c:v>GC31</c:v>
                  </c:pt>
                </c:lvl>
                <c:lvl>
                  <c:pt idx="0">
                    <c:v>Maintenance Services for Production and Associated Facilities</c:v>
                  </c:pt>
                </c:lvl>
              </c:multiLvlStrCache>
            </c:multiLvlStrRef>
          </c:cat>
          <c:val>
            <c:numRef>
              <c:f>NK!$D$10:$D$16</c:f>
              <c:numCache>
                <c:formatCode>0.000,,"M"</c:formatCode>
                <c:ptCount val="7"/>
                <c:pt idx="0">
                  <c:v>3470298.7357200002</c:v>
                </c:pt>
                <c:pt idx="1">
                  <c:v>5406937.2500999998</c:v>
                </c:pt>
                <c:pt idx="2">
                  <c:v>9479376.1794599891</c:v>
                </c:pt>
                <c:pt idx="3">
                  <c:v>3418229.8651800002</c:v>
                </c:pt>
                <c:pt idx="4">
                  <c:v>4931283.7400700003</c:v>
                </c:pt>
                <c:pt idx="5">
                  <c:v>4426424.04519</c:v>
                </c:pt>
                <c:pt idx="6">
                  <c:v>3205835.6447100001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2C-4182-8BBA-8AEE030A44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0"/>
        <c:overlap val="73"/>
        <c:axId val="1414967583"/>
        <c:axId val="1414952703"/>
      </c:barChart>
      <c:lineChart>
        <c:grouping val="standard"/>
        <c:varyColors val="0"/>
        <c:ser>
          <c:idx val="1"/>
          <c:order val="1"/>
          <c:spPr>
            <a:ln w="28575" cap="rnd">
              <a:noFill/>
              <a:round/>
            </a:ln>
            <a:effectLst/>
          </c:spPr>
          <c:marker>
            <c:symbol val="dash"/>
            <c:size val="15"/>
            <c:spPr>
              <a:solidFill>
                <a:srgbClr val="E044A7"/>
              </a:solidFill>
              <a:ln w="9525">
                <a:solidFill>
                  <a:srgbClr val="E044A7"/>
                </a:solidFill>
                <a:miter lim="800000"/>
              </a:ln>
              <a:effectLst/>
            </c:spPr>
          </c:marker>
          <c:cat>
            <c:multiLvlStrRef>
              <c:f>NK!$B$10:$C$16</c:f>
              <c:multiLvlStrCache>
                <c:ptCount val="7"/>
                <c:lvl>
                  <c:pt idx="0">
                    <c:v>GC30</c:v>
                  </c:pt>
                  <c:pt idx="1">
                    <c:v>GC25</c:v>
                  </c:pt>
                  <c:pt idx="2">
                    <c:v>GC15</c:v>
                  </c:pt>
                  <c:pt idx="3">
                    <c:v>GC29</c:v>
                  </c:pt>
                  <c:pt idx="4">
                    <c:v>GC23</c:v>
                  </c:pt>
                  <c:pt idx="5">
                    <c:v>GC24</c:v>
                  </c:pt>
                  <c:pt idx="6">
                    <c:v>GC31</c:v>
                  </c:pt>
                </c:lvl>
                <c:lvl>
                  <c:pt idx="0">
                    <c:v>Maintenance Services for Production and Associated Facilities</c:v>
                  </c:pt>
                </c:lvl>
              </c:multiLvlStrCache>
            </c:multiLvlStrRef>
          </c:cat>
          <c:val>
            <c:numRef>
              <c:f>NK!$E$10:$E$16</c:f>
              <c:numCache>
                <c:formatCode>0.000,,"M"</c:formatCode>
                <c:ptCount val="7"/>
                <c:pt idx="0">
                  <c:v>2990853.6585365855</c:v>
                </c:pt>
                <c:pt idx="1">
                  <c:v>4546097.5609756093</c:v>
                </c:pt>
                <c:pt idx="2">
                  <c:v>5921890.2439024393</c:v>
                </c:pt>
                <c:pt idx="3">
                  <c:v>3947926.8292682925</c:v>
                </c:pt>
                <c:pt idx="4">
                  <c:v>5622804.8780487804</c:v>
                </c:pt>
                <c:pt idx="5">
                  <c:v>6759329.2682926832</c:v>
                </c:pt>
                <c:pt idx="6">
                  <c:v>4546097.5609756093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82C-4182-8BBA-8AEE030A44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14967583"/>
        <c:axId val="1414952703"/>
      </c:lineChart>
      <c:catAx>
        <c:axId val="1414967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4952703"/>
        <c:crosses val="autoZero"/>
        <c:auto val="1"/>
        <c:lblAlgn val="ctr"/>
        <c:lblOffset val="100"/>
        <c:noMultiLvlLbl val="0"/>
      </c:catAx>
      <c:valAx>
        <c:axId val="1414952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,,&quot;M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4967583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90000"/>
        <a:lumOff val="1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0AA-48C4-884B-80009AF5A746}"/>
              </c:ext>
            </c:extLst>
          </c:dPt>
          <c:dPt>
            <c:idx val="1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0AA-48C4-884B-80009AF5A746}"/>
              </c:ext>
            </c:extLst>
          </c:dPt>
          <c:dPt>
            <c:idx val="2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0AA-48C4-884B-80009AF5A746}"/>
              </c:ext>
            </c:extLst>
          </c:dPt>
          <c:dPt>
            <c:idx val="3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0AA-48C4-884B-80009AF5A746}"/>
              </c:ext>
            </c:extLst>
          </c:dPt>
          <c:cat>
            <c:multiLvlStrRef>
              <c:f>NK!$B$17:$C$23</c:f>
              <c:multiLvlStrCache>
                <c:ptCount val="7"/>
                <c:lvl>
                  <c:pt idx="0">
                    <c:v>GC30</c:v>
                  </c:pt>
                  <c:pt idx="1">
                    <c:v>GC25</c:v>
                  </c:pt>
                  <c:pt idx="2">
                    <c:v>GC15</c:v>
                  </c:pt>
                  <c:pt idx="3">
                    <c:v>GC29</c:v>
                  </c:pt>
                  <c:pt idx="4">
                    <c:v>GC23</c:v>
                  </c:pt>
                  <c:pt idx="5">
                    <c:v>GC24</c:v>
                  </c:pt>
                  <c:pt idx="6">
                    <c:v>GC31</c:v>
                  </c:pt>
                </c:lvl>
                <c:lvl>
                  <c:pt idx="0">
                    <c:v>Oil and Water Process Chemicals</c:v>
                  </c:pt>
                </c:lvl>
              </c:multiLvlStrCache>
            </c:multiLvlStrRef>
          </c:cat>
          <c:val>
            <c:numRef>
              <c:f>NK!$D$17:$D$23</c:f>
              <c:numCache>
                <c:formatCode>0.000,,"M"</c:formatCode>
                <c:ptCount val="7"/>
                <c:pt idx="0">
                  <c:v>936245.70089999901</c:v>
                </c:pt>
                <c:pt idx="1">
                  <c:v>843973.20059999905</c:v>
                </c:pt>
                <c:pt idx="2">
                  <c:v>1117384.6368</c:v>
                </c:pt>
                <c:pt idx="3">
                  <c:v>978305.04584999999</c:v>
                </c:pt>
                <c:pt idx="4">
                  <c:v>3229771.0866</c:v>
                </c:pt>
                <c:pt idx="5">
                  <c:v>2302617.9803999998</c:v>
                </c:pt>
                <c:pt idx="6">
                  <c:v>1297181.33579999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0AA-48C4-884B-80009AF5A7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0"/>
        <c:overlap val="73"/>
        <c:axId val="1414967583"/>
        <c:axId val="1414952703"/>
      </c:barChart>
      <c:lineChart>
        <c:grouping val="standard"/>
        <c:varyColors val="0"/>
        <c:ser>
          <c:idx val="1"/>
          <c:order val="1"/>
          <c:spPr>
            <a:ln w="28575" cap="rnd">
              <a:noFill/>
              <a:round/>
            </a:ln>
            <a:effectLst/>
          </c:spPr>
          <c:marker>
            <c:symbol val="dash"/>
            <c:size val="15"/>
            <c:spPr>
              <a:solidFill>
                <a:srgbClr val="E044A7"/>
              </a:solidFill>
              <a:ln w="9525">
                <a:solidFill>
                  <a:srgbClr val="E044A7"/>
                </a:solidFill>
                <a:miter lim="800000"/>
              </a:ln>
              <a:effectLst/>
            </c:spPr>
          </c:marker>
          <c:cat>
            <c:multiLvlStrRef>
              <c:f>NK!$B$17:$C$23</c:f>
              <c:multiLvlStrCache>
                <c:ptCount val="7"/>
                <c:lvl>
                  <c:pt idx="0">
                    <c:v>GC30</c:v>
                  </c:pt>
                  <c:pt idx="1">
                    <c:v>GC25</c:v>
                  </c:pt>
                  <c:pt idx="2">
                    <c:v>GC15</c:v>
                  </c:pt>
                  <c:pt idx="3">
                    <c:v>GC29</c:v>
                  </c:pt>
                  <c:pt idx="4">
                    <c:v>GC23</c:v>
                  </c:pt>
                  <c:pt idx="5">
                    <c:v>GC24</c:v>
                  </c:pt>
                  <c:pt idx="6">
                    <c:v>GC31</c:v>
                  </c:pt>
                </c:lvl>
                <c:lvl>
                  <c:pt idx="0">
                    <c:v>Oil and Water Process Chemicals</c:v>
                  </c:pt>
                </c:lvl>
              </c:multiLvlStrCache>
            </c:multiLvlStrRef>
          </c:cat>
          <c:val>
            <c:numRef>
              <c:f>NK!$E$17:$E$23</c:f>
              <c:numCache>
                <c:formatCode>0.000,,"M"</c:formatCode>
                <c:ptCount val="7"/>
                <c:pt idx="0">
                  <c:v>932317.07317073166</c:v>
                </c:pt>
                <c:pt idx="1">
                  <c:v>1417121.9512195121</c:v>
                </c:pt>
                <c:pt idx="2">
                  <c:v>1845987.8048780488</c:v>
                </c:pt>
                <c:pt idx="3">
                  <c:v>1230658.5365853659</c:v>
                </c:pt>
                <c:pt idx="4">
                  <c:v>1752756.0975609757</c:v>
                </c:pt>
                <c:pt idx="5">
                  <c:v>2107036.5853658537</c:v>
                </c:pt>
                <c:pt idx="6">
                  <c:v>1417121.9512195121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E0AA-48C4-884B-80009AF5A7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14967583"/>
        <c:axId val="1414952703"/>
      </c:lineChart>
      <c:catAx>
        <c:axId val="1414967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4952703"/>
        <c:crosses val="autoZero"/>
        <c:auto val="1"/>
        <c:lblAlgn val="ctr"/>
        <c:lblOffset val="100"/>
        <c:noMultiLvlLbl val="0"/>
      </c:catAx>
      <c:valAx>
        <c:axId val="1414952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,,&quot;M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4967583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90000"/>
        <a:lumOff val="1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NK!$D$2</c:f>
              <c:strCache>
                <c:ptCount val="1"/>
                <c:pt idx="0">
                  <c:v>ACTUAL 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054-48CD-9289-4E054E50E9B5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054-48CD-9289-4E054E50E9B5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054-48CD-9289-4E054E50E9B5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054-48CD-9289-4E054E50E9B5}"/>
              </c:ext>
            </c:extLst>
          </c:dPt>
          <c:cat>
            <c:multiLvlStrRef>
              <c:f>NK!$B$3:$C$9</c:f>
              <c:multiLvlStrCache>
                <c:ptCount val="7"/>
                <c:lvl>
                  <c:pt idx="0">
                    <c:v>GC30</c:v>
                  </c:pt>
                  <c:pt idx="1">
                    <c:v>GC25</c:v>
                  </c:pt>
                  <c:pt idx="2">
                    <c:v>GC15</c:v>
                  </c:pt>
                  <c:pt idx="3">
                    <c:v>GC29</c:v>
                  </c:pt>
                  <c:pt idx="4">
                    <c:v>GC23</c:v>
                  </c:pt>
                  <c:pt idx="5">
                    <c:v>GC24</c:v>
                  </c:pt>
                  <c:pt idx="6">
                    <c:v>GC31</c:v>
                  </c:pt>
                </c:lvl>
                <c:lvl>
                  <c:pt idx="0">
                    <c:v>Instrumentation Material</c:v>
                  </c:pt>
                </c:lvl>
              </c:multiLvlStrCache>
            </c:multiLvlStrRef>
          </c:cat>
          <c:val>
            <c:numRef>
              <c:f>NK!$D$3:$D$9</c:f>
              <c:numCache>
                <c:formatCode>0.000,,"M"</c:formatCode>
                <c:ptCount val="7"/>
                <c:pt idx="0">
                  <c:v>117019.93223999999</c:v>
                </c:pt>
                <c:pt idx="1">
                  <c:v>315743.17541999999</c:v>
                </c:pt>
                <c:pt idx="2">
                  <c:v>563349.42623999994</c:v>
                </c:pt>
                <c:pt idx="3">
                  <c:v>87802.894260000001</c:v>
                </c:pt>
                <c:pt idx="4">
                  <c:v>98888.570309999996</c:v>
                </c:pt>
                <c:pt idx="5">
                  <c:v>239007.15143999999</c:v>
                </c:pt>
                <c:pt idx="6">
                  <c:v>41245.4681099999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054-48CD-9289-4E054E50E9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0"/>
        <c:overlap val="73"/>
        <c:axId val="1414967583"/>
        <c:axId val="1414952703"/>
      </c:barChart>
      <c:lineChart>
        <c:grouping val="standard"/>
        <c:varyColors val="0"/>
        <c:ser>
          <c:idx val="1"/>
          <c:order val="1"/>
          <c:tx>
            <c:strRef>
              <c:f>NK!$E$2</c:f>
              <c:strCache>
                <c:ptCount val="1"/>
                <c:pt idx="0">
                  <c:v>OPTIMUM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dash"/>
            <c:size val="15"/>
            <c:spPr>
              <a:solidFill>
                <a:srgbClr val="E044A7"/>
              </a:solidFill>
              <a:ln w="9525">
                <a:solidFill>
                  <a:srgbClr val="E044A7"/>
                </a:solidFill>
                <a:miter lim="800000"/>
              </a:ln>
              <a:effectLst/>
            </c:spPr>
          </c:marker>
          <c:cat>
            <c:multiLvlStrRef>
              <c:f>NK!$B$3:$C$9</c:f>
              <c:multiLvlStrCache>
                <c:ptCount val="7"/>
                <c:lvl>
                  <c:pt idx="0">
                    <c:v>GC30</c:v>
                  </c:pt>
                  <c:pt idx="1">
                    <c:v>GC25</c:v>
                  </c:pt>
                  <c:pt idx="2">
                    <c:v>GC15</c:v>
                  </c:pt>
                  <c:pt idx="3">
                    <c:v>GC29</c:v>
                  </c:pt>
                  <c:pt idx="4">
                    <c:v>GC23</c:v>
                  </c:pt>
                  <c:pt idx="5">
                    <c:v>GC24</c:v>
                  </c:pt>
                  <c:pt idx="6">
                    <c:v>GC31</c:v>
                  </c:pt>
                </c:lvl>
                <c:lvl>
                  <c:pt idx="0">
                    <c:v>Instrumentation Material</c:v>
                  </c:pt>
                </c:lvl>
              </c:multiLvlStrCache>
            </c:multiLvlStrRef>
          </c:cat>
          <c:val>
            <c:numRef>
              <c:f>NK!$E$3:$E$9</c:f>
              <c:numCache>
                <c:formatCode>0.000,,"M"</c:formatCode>
                <c:ptCount val="7"/>
                <c:pt idx="0">
                  <c:v>127439.0243902439</c:v>
                </c:pt>
                <c:pt idx="1">
                  <c:v>193707.31707317074</c:v>
                </c:pt>
                <c:pt idx="2">
                  <c:v>252329.26829268291</c:v>
                </c:pt>
                <c:pt idx="3">
                  <c:v>168219.51219512196</c:v>
                </c:pt>
                <c:pt idx="4">
                  <c:v>239585.36585365853</c:v>
                </c:pt>
                <c:pt idx="5">
                  <c:v>288012.19512195123</c:v>
                </c:pt>
                <c:pt idx="6">
                  <c:v>193707.31707317074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2054-48CD-9289-4E054E50E9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14967583"/>
        <c:axId val="1414952703"/>
      </c:lineChart>
      <c:catAx>
        <c:axId val="1414967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4952703"/>
        <c:crosses val="autoZero"/>
        <c:auto val="1"/>
        <c:lblAlgn val="ctr"/>
        <c:lblOffset val="100"/>
        <c:noMultiLvlLbl val="0"/>
      </c:catAx>
      <c:valAx>
        <c:axId val="1414952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,,&quot;M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4967583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90000"/>
        <a:lumOff val="1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2">
                <a:lumMod val="10000"/>
                <a:lumOff val="9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0B2-4B51-8B80-DF9649FC9018}"/>
              </c:ext>
            </c:extLst>
          </c:dPt>
          <c:dPt>
            <c:idx val="1"/>
            <c:invertIfNegative val="0"/>
            <c:bubble3D val="0"/>
            <c:spPr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0B2-4B51-8B80-DF9649FC9018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0B2-4B51-8B80-DF9649FC9018}"/>
              </c:ext>
            </c:extLst>
          </c:dPt>
          <c:dPt>
            <c:idx val="3"/>
            <c:invertIfNegative val="0"/>
            <c:bubble3D val="0"/>
            <c:spPr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0B2-4B51-8B80-DF9649FC9018}"/>
              </c:ext>
            </c:extLst>
          </c:dPt>
          <c:cat>
            <c:multiLvlStrRef>
              <c:f>NK!$B$24:$C$30</c:f>
              <c:multiLvlStrCache>
                <c:ptCount val="7"/>
                <c:lvl>
                  <c:pt idx="0">
                    <c:v>GC30</c:v>
                  </c:pt>
                  <c:pt idx="1">
                    <c:v>GC25</c:v>
                  </c:pt>
                  <c:pt idx="2">
                    <c:v>GC15</c:v>
                  </c:pt>
                  <c:pt idx="3">
                    <c:v>GC29</c:v>
                  </c:pt>
                  <c:pt idx="4">
                    <c:v>GC23</c:v>
                  </c:pt>
                  <c:pt idx="5">
                    <c:v>GC24</c:v>
                  </c:pt>
                  <c:pt idx="6">
                    <c:v>GC31</c:v>
                  </c:pt>
                </c:lvl>
                <c:lvl>
                  <c:pt idx="0">
                    <c:v>Rotating Equipment</c:v>
                  </c:pt>
                </c:lvl>
              </c:multiLvlStrCache>
            </c:multiLvlStrRef>
          </c:cat>
          <c:val>
            <c:numRef>
              <c:f>NK!$D$24:$D$30</c:f>
              <c:numCache>
                <c:formatCode>0.000,,"M"</c:formatCode>
                <c:ptCount val="7"/>
                <c:pt idx="0">
                  <c:v>1181017.1429399999</c:v>
                </c:pt>
                <c:pt idx="1">
                  <c:v>1131713.3157299999</c:v>
                </c:pt>
                <c:pt idx="2">
                  <c:v>701228.08680000005</c:v>
                </c:pt>
                <c:pt idx="3">
                  <c:v>1422280.90176</c:v>
                </c:pt>
                <c:pt idx="4">
                  <c:v>252014.75364000001</c:v>
                </c:pt>
                <c:pt idx="5">
                  <c:v>404465.29937999998</c:v>
                </c:pt>
                <c:pt idx="6">
                  <c:v>771913.48916999996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0B2-4B51-8B80-DF9649FC90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0"/>
        <c:overlap val="73"/>
        <c:axId val="1414967583"/>
        <c:axId val="1414952703"/>
      </c:barChart>
      <c:lineChart>
        <c:grouping val="standard"/>
        <c:varyColors val="0"/>
        <c:ser>
          <c:idx val="1"/>
          <c:order val="1"/>
          <c:spPr>
            <a:ln w="28575" cap="rnd">
              <a:noFill/>
              <a:round/>
            </a:ln>
            <a:effectLst/>
          </c:spPr>
          <c:marker>
            <c:symbol val="dash"/>
            <c:size val="15"/>
            <c:spPr>
              <a:solidFill>
                <a:srgbClr val="E044A7"/>
              </a:solidFill>
              <a:ln w="9525">
                <a:solidFill>
                  <a:srgbClr val="E044A7"/>
                </a:solidFill>
                <a:miter lim="800000"/>
              </a:ln>
              <a:effectLst/>
            </c:spPr>
          </c:marker>
          <c:cat>
            <c:multiLvlStrRef>
              <c:f>NK!$B$24:$C$30</c:f>
              <c:multiLvlStrCache>
                <c:ptCount val="7"/>
                <c:lvl>
                  <c:pt idx="0">
                    <c:v>GC30</c:v>
                  </c:pt>
                  <c:pt idx="1">
                    <c:v>GC25</c:v>
                  </c:pt>
                  <c:pt idx="2">
                    <c:v>GC15</c:v>
                  </c:pt>
                  <c:pt idx="3">
                    <c:v>GC29</c:v>
                  </c:pt>
                  <c:pt idx="4">
                    <c:v>GC23</c:v>
                  </c:pt>
                  <c:pt idx="5">
                    <c:v>GC24</c:v>
                  </c:pt>
                  <c:pt idx="6">
                    <c:v>GC31</c:v>
                  </c:pt>
                </c:lvl>
                <c:lvl>
                  <c:pt idx="0">
                    <c:v>Rotating Equipment</c:v>
                  </c:pt>
                </c:lvl>
              </c:multiLvlStrCache>
            </c:multiLvlStrRef>
          </c:cat>
          <c:val>
            <c:numRef>
              <c:f>NK!$E$24:$E$30</c:f>
              <c:numCache>
                <c:formatCode>0.000,,"M"</c:formatCode>
                <c:ptCount val="7"/>
                <c:pt idx="0">
                  <c:v>510975.60975609755</c:v>
                </c:pt>
                <c:pt idx="1">
                  <c:v>776682.92682926834</c:v>
                </c:pt>
                <c:pt idx="2">
                  <c:v>1011731.7073170731</c:v>
                </c:pt>
                <c:pt idx="3">
                  <c:v>674487.80487804883</c:v>
                </c:pt>
                <c:pt idx="4">
                  <c:v>960634.14634146343</c:v>
                </c:pt>
                <c:pt idx="5">
                  <c:v>1154804.8780487804</c:v>
                </c:pt>
                <c:pt idx="6">
                  <c:v>776682.92682926834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A0B2-4B51-8B80-DF9649FC90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14967583"/>
        <c:axId val="1414952703"/>
      </c:lineChart>
      <c:catAx>
        <c:axId val="1414967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4952703"/>
        <c:crosses val="autoZero"/>
        <c:auto val="1"/>
        <c:lblAlgn val="ctr"/>
        <c:lblOffset val="100"/>
        <c:noMultiLvlLbl val="0"/>
      </c:catAx>
      <c:valAx>
        <c:axId val="1414952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,,&quot;M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4967583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90000"/>
        <a:lumOff val="1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66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89975-BFB1-9544-D84E-36D76F2CA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9FACD-4E6A-B691-CD3A-1A353C696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D23716-42A4-3E6D-F920-F29803A93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44991-6BD3-405A-C0A6-3B7F79EC85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29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14A06-7CC3-D1D7-7DC6-D703A85E9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958579-56BA-FE8D-A656-220F27CCD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858674-A824-41E9-0CAA-17F1A7945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89843-16B0-A39A-5ED2-385FB1F7AD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21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D7A5C-451A-CD43-66B0-ACA93A0B8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DFC62-AFDF-3447-819E-8083313E66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D07E6-609F-947D-4830-4C94253496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2B8F0-7273-4F02-43C2-D9839CE48E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746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63DCD-0606-720E-8DDD-0CDD788B8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750A7-EEE9-2987-2A2A-E2CBC24B4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88C42-6A5E-1536-5DED-E4EFED15D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443B4-CCAF-9CF1-7C9D-234087A6FA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36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hart" Target="../charts/chart1.xm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61268"/>
          </a:xfrm>
          <a:prstGeom prst="rect">
            <a:avLst/>
          </a:prstGeom>
          <a:solidFill>
            <a:srgbClr val="0864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-1"/>
            <a:ext cx="9144000" cy="243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0ADFC74B-72E8-CDFD-7D5B-78C9A7F805B3}"/>
              </a:ext>
            </a:extLst>
          </p:cNvPr>
          <p:cNvSpPr/>
          <p:nvPr/>
        </p:nvSpPr>
        <p:spPr>
          <a:xfrm>
            <a:off x="4754882" y="639821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EEF4F9"/>
          </a:solidFill>
          <a:ln/>
          <a:effectLst>
            <a:outerShdw blurRad="635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00FD556B-AC03-268E-D13E-7200E5EBDB73}"/>
              </a:ext>
            </a:extLst>
          </p:cNvPr>
          <p:cNvSpPr/>
          <p:nvPr/>
        </p:nvSpPr>
        <p:spPr>
          <a:xfrm>
            <a:off x="4983482" y="822701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6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Cost per BOE</a:t>
            </a:r>
            <a:endParaRPr lang="en-US" sz="17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C554E9DA-E987-41DA-386B-BF57D7EC7CB4}"/>
              </a:ext>
            </a:extLst>
          </p:cNvPr>
          <p:cNvSpPr/>
          <p:nvPr/>
        </p:nvSpPr>
        <p:spPr>
          <a:xfrm>
            <a:off x="4983482" y="1234181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1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operating expense of wells and facilities, divided by BOE produced.</a:t>
            </a:r>
            <a:endParaRPr lang="en-US" sz="1300" dirty="0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4912CBB6-C8D4-80AF-3DD2-1B466EC68E3D}"/>
              </a:ext>
            </a:extLst>
          </p:cNvPr>
          <p:cNvSpPr/>
          <p:nvPr/>
        </p:nvSpPr>
        <p:spPr>
          <a:xfrm>
            <a:off x="4983482" y="2305325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Workover, rigless, ESP rental, maintenance, materials, fuel and utilities. Excludes G&amp;A and DD&amp;A.</a:t>
            </a:r>
            <a:endParaRPr lang="en-US" sz="1200" dirty="0"/>
          </a:p>
        </p:txBody>
      </p:sp>
      <p:sp>
        <p:nvSpPr>
          <p:cNvPr id="39" name="Shape 6">
            <a:extLst>
              <a:ext uri="{FF2B5EF4-FFF2-40B4-BE49-F238E27FC236}">
                <a16:creationId xmlns:a16="http://schemas.microsoft.com/office/drawing/2014/main" id="{427E4BAF-DEAA-4970-1B2F-8F14FC59DF59}"/>
              </a:ext>
            </a:extLst>
          </p:cNvPr>
          <p:cNvSpPr/>
          <p:nvPr/>
        </p:nvSpPr>
        <p:spPr>
          <a:xfrm>
            <a:off x="365760" y="634029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F5F8FB"/>
          </a:solidFill>
          <a:ln/>
          <a:effectLst>
            <a:outerShdw blurRad="635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1C845F0E-7C7E-7BF8-A86A-D311FAF003E0}"/>
              </a:ext>
            </a:extLst>
          </p:cNvPr>
          <p:cNvSpPr/>
          <p:nvPr/>
        </p:nvSpPr>
        <p:spPr>
          <a:xfrm>
            <a:off x="587829" y="816909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BOE – all expenses</a:t>
            </a:r>
            <a:endParaRPr lang="en-US" sz="1700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D36D9365-B588-2839-1363-D2D6974AC863}"/>
              </a:ext>
            </a:extLst>
          </p:cNvPr>
          <p:cNvSpPr/>
          <p:nvPr/>
        </p:nvSpPr>
        <p:spPr>
          <a:xfrm>
            <a:off x="587829" y="1228389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1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employee costs, general &amp; administrative expenses and depreciation, depletion and amortization.</a:t>
            </a:r>
            <a:endParaRPr lang="en-US" sz="1300" dirty="0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C7A7B805-E496-8D81-62B8-2A0383DC45A9}"/>
              </a:ext>
            </a:extLst>
          </p:cNvPr>
          <p:cNvSpPr/>
          <p:nvPr/>
        </p:nvSpPr>
        <p:spPr>
          <a:xfrm>
            <a:off x="587829" y="2358315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absorbed cost of a barrel. Needs the finance general ledger feed.</a:t>
            </a:r>
            <a:endParaRPr 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38CF35-30B3-4B5B-AD36-8662242736B9}"/>
              </a:ext>
            </a:extLst>
          </p:cNvPr>
          <p:cNvSpPr txBox="1"/>
          <p:nvPr/>
        </p:nvSpPr>
        <p:spPr>
          <a:xfrm>
            <a:off x="537578" y="2089040"/>
            <a:ext cx="3666662" cy="230832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General ($/BOE)  =  All KOC Costs  ÷  Net Production Volume (BOE)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C70297C-5136-E19B-6959-47F1EB26DCF5}"/>
              </a:ext>
            </a:extLst>
          </p:cNvPr>
          <p:cNvSpPr txBox="1"/>
          <p:nvPr/>
        </p:nvSpPr>
        <p:spPr>
          <a:xfrm>
            <a:off x="5162391" y="1977296"/>
            <a:ext cx="3208339" cy="369332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Lifting Cost ($/BOE)  =  Production (Operating) Costs  ÷  Net Production Volume (BOE)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6C15269-890A-6005-17CF-4DABA27FBF5A}"/>
              </a:ext>
            </a:extLst>
          </p:cNvPr>
          <p:cNvSpPr txBox="1"/>
          <p:nvPr/>
        </p:nvSpPr>
        <p:spPr>
          <a:xfrm>
            <a:off x="451668" y="3674809"/>
            <a:ext cx="8240664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01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Supply Chain team built a working cost-per-barrel tool in Power BI.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01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measures the operational cost of every KOC well and production facility.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89098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38" grpId="0" animBg="1"/>
      <p:bldP spid="47" grpId="0" animBg="1"/>
      <p:bldP spid="5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E005E6-307C-1915-735B-FDB70B0F7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EA85FD-80F1-2567-816D-8918FE954359}"/>
              </a:ext>
            </a:extLst>
          </p:cNvPr>
          <p:cNvSpPr/>
          <p:nvPr/>
        </p:nvSpPr>
        <p:spPr>
          <a:xfrm>
            <a:off x="0" y="0"/>
            <a:ext cx="9144000" cy="261268"/>
          </a:xfrm>
          <a:prstGeom prst="rect">
            <a:avLst/>
          </a:prstGeom>
          <a:solidFill>
            <a:srgbClr val="0864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752825-C323-8DE1-AF3C-69EBC279EEB5}"/>
              </a:ext>
            </a:extLst>
          </p:cNvPr>
          <p:cNvSpPr/>
          <p:nvPr/>
        </p:nvSpPr>
        <p:spPr>
          <a:xfrm>
            <a:off x="0" y="-1"/>
            <a:ext cx="9144000" cy="243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</a:t>
            </a:r>
            <a:endParaRPr lang="en-US" sz="1200" dirty="0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F8B56AD4-4F0B-F91F-6BED-758079DA5096}"/>
              </a:ext>
            </a:extLst>
          </p:cNvPr>
          <p:cNvSpPr txBox="1"/>
          <p:nvPr/>
        </p:nvSpPr>
        <p:spPr>
          <a:xfrm>
            <a:off x="1335041" y="2070094"/>
            <a:ext cx="1382261" cy="507831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b="1" dirty="0">
                <a:solidFill>
                  <a:sysClr val="windowText" lastClr="000000"/>
                </a:solidFill>
              </a:rPr>
              <a:t>Average Wells Cost/BOE</a:t>
            </a:r>
          </a:p>
          <a:p>
            <a:pPr algn="ctr"/>
            <a:endParaRPr lang="en-US" sz="900" b="1" dirty="0">
              <a:solidFill>
                <a:sysClr val="windowText" lastClr="000000"/>
              </a:solidFill>
            </a:endParaRPr>
          </a:p>
          <a:p>
            <a:pPr algn="ctr"/>
            <a:r>
              <a:rPr lang="en-US" sz="900" b="1" u="sng" dirty="0">
                <a:solidFill>
                  <a:sysClr val="windowText" lastClr="000000"/>
                </a:solidFill>
              </a:rPr>
              <a:t>1.1</a:t>
            </a:r>
            <a:r>
              <a:rPr lang="en-US" sz="900" b="1" dirty="0">
                <a:solidFill>
                  <a:sysClr val="windowText" lastClr="000000"/>
                </a:solidFill>
              </a:rPr>
              <a:t>  $/BBL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DFDFC03A-8746-DAE6-DD16-F36158D0F102}"/>
              </a:ext>
            </a:extLst>
          </p:cNvPr>
          <p:cNvSpPr txBox="1"/>
          <p:nvPr/>
        </p:nvSpPr>
        <p:spPr>
          <a:xfrm>
            <a:off x="1335041" y="1379736"/>
            <a:ext cx="1382261" cy="55399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>
                <a:solidFill>
                  <a:sysClr val="windowText" lastClr="000000"/>
                </a:solidFill>
              </a:rPr>
              <a:t>Wells with Cost</a:t>
            </a:r>
          </a:p>
          <a:p>
            <a:pPr algn="ctr"/>
            <a:r>
              <a:rPr lang="en-US" sz="1000" b="1" dirty="0">
                <a:solidFill>
                  <a:sysClr val="windowText" lastClr="000000"/>
                </a:solidFill>
              </a:rPr>
              <a:t> more than</a:t>
            </a:r>
          </a:p>
          <a:p>
            <a:pPr algn="ctr"/>
            <a:r>
              <a:rPr lang="en-US" sz="1000" b="1" u="sng" dirty="0">
                <a:solidFill>
                  <a:sysClr val="windowText" lastClr="000000"/>
                </a:solidFill>
              </a:rPr>
              <a:t>15</a:t>
            </a:r>
            <a:r>
              <a:rPr lang="en-US" sz="1000" b="1" dirty="0">
                <a:solidFill>
                  <a:sysClr val="windowText" lastClr="000000"/>
                </a:solidFill>
              </a:rPr>
              <a:t>  $/BBL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E3AF78-E469-FA2B-68C3-E53982260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193" y="302162"/>
            <a:ext cx="4844844" cy="15635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382401-D502-E4EB-8D0A-30C446F92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194" y="3530737"/>
            <a:ext cx="4844843" cy="15058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A3EFAFB-DCE4-8832-8610-F73F17B50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5194" y="1906565"/>
            <a:ext cx="4844843" cy="15635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5DFB74E-27C4-1DA9-6F6D-D3ADE6D18C4E}"/>
              </a:ext>
            </a:extLst>
          </p:cNvPr>
          <p:cNvSpPr txBox="1"/>
          <p:nvPr/>
        </p:nvSpPr>
        <p:spPr>
          <a:xfrm>
            <a:off x="217764" y="460438"/>
            <a:ext cx="3513578" cy="784830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Well Lifting Cost ($/BOE)  =  Cost on the well ÷  Well Net Production Volume (BOE)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1" kern="0" dirty="0">
              <a:solidFill>
                <a:prstClr val="black"/>
              </a:solidFill>
              <a:latin typeface="Aptos" panose="02110004020202020204"/>
              <a:ea typeface="Calibri" pitchFamily="34" charset="-122"/>
              <a:cs typeface="Calibri" pitchFamily="34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Cost = Workover + </a:t>
            </a:r>
            <a:r>
              <a:rPr kumimoji="0" lang="en-US" sz="9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Rigless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 + ESP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kern="0" dirty="0">
                <a:solidFill>
                  <a:prstClr val="black"/>
                </a:solidFill>
                <a:latin typeface="Aptos" panose="02110004020202020204"/>
                <a:ea typeface="Calibri" pitchFamily="34" charset="-122"/>
                <a:cs typeface="Calibri" pitchFamily="34" charset="-120"/>
              </a:rPr>
              <a:t>Production = Back Allocation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242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A24E4-A496-EC32-8B36-8F94F4D7F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6BA75E-0309-C307-207F-17B586CF1FDF}"/>
              </a:ext>
            </a:extLst>
          </p:cNvPr>
          <p:cNvSpPr/>
          <p:nvPr/>
        </p:nvSpPr>
        <p:spPr>
          <a:xfrm>
            <a:off x="0" y="0"/>
            <a:ext cx="9144000" cy="261268"/>
          </a:xfrm>
          <a:prstGeom prst="rect">
            <a:avLst/>
          </a:prstGeom>
          <a:solidFill>
            <a:srgbClr val="0864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DED3FF-4AF3-3CDC-3FA7-E960DBCEF1F3}"/>
              </a:ext>
            </a:extLst>
          </p:cNvPr>
          <p:cNvSpPr/>
          <p:nvPr/>
        </p:nvSpPr>
        <p:spPr>
          <a:xfrm>
            <a:off x="0" y="-1"/>
            <a:ext cx="9144000" cy="243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FACILITIES</a:t>
            </a:r>
            <a:endParaRPr lang="en-US" sz="12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C11B690-1E95-2F00-323C-1079B94086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7466952"/>
              </p:ext>
            </p:extLst>
          </p:nvPr>
        </p:nvGraphicFramePr>
        <p:xfrm>
          <a:off x="31897" y="3081853"/>
          <a:ext cx="2306996" cy="18729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7417C2C-091E-888F-0EDE-5A60BF7CF0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6037454"/>
              </p:ext>
            </p:extLst>
          </p:nvPr>
        </p:nvGraphicFramePr>
        <p:xfrm>
          <a:off x="2434856" y="3081853"/>
          <a:ext cx="2137144" cy="18729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A8311C8-6D5C-9721-80C3-6D1110053C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6721032"/>
              </p:ext>
            </p:extLst>
          </p:nvPr>
        </p:nvGraphicFramePr>
        <p:xfrm>
          <a:off x="6901069" y="3081854"/>
          <a:ext cx="2137143" cy="1872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FEDB8C9-529B-BA28-D92F-AAA0F61D65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6327173"/>
              </p:ext>
            </p:extLst>
          </p:nvPr>
        </p:nvGraphicFramePr>
        <p:xfrm>
          <a:off x="4667963" y="3081853"/>
          <a:ext cx="2137144" cy="18729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FB2BFE44-F2BE-501A-446F-CBDC6E6B01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397903"/>
            <a:ext cx="4923411" cy="25473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F08756F-5ACE-D5F6-6666-233E3B0FA15A}"/>
              </a:ext>
            </a:extLst>
          </p:cNvPr>
          <p:cNvSpPr txBox="1"/>
          <p:nvPr/>
        </p:nvSpPr>
        <p:spPr>
          <a:xfrm>
            <a:off x="217764" y="460438"/>
            <a:ext cx="3513578" cy="230832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Facility Lifting Cost ($/BOE)  =  Cost on the Facility  ÷  DCP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3FDFDFA-4300-D606-AFC6-101AD3B97D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810" y="951706"/>
            <a:ext cx="2685125" cy="1509580"/>
          </a:xfrm>
          <a:prstGeom prst="rect">
            <a:avLst/>
          </a:prstGeom>
        </p:spPr>
      </p:pic>
      <p:sp>
        <p:nvSpPr>
          <p:cNvPr id="26" name="Rectangle: Diagonal Corners Rounded 9">
            <a:extLst>
              <a:ext uri="{FF2B5EF4-FFF2-40B4-BE49-F238E27FC236}">
                <a16:creationId xmlns:a16="http://schemas.microsoft.com/office/drawing/2014/main" id="{3C73D99B-7937-EF91-C608-E585D4495E57}"/>
              </a:ext>
            </a:extLst>
          </p:cNvPr>
          <p:cNvSpPr/>
          <p:nvPr/>
        </p:nvSpPr>
        <p:spPr>
          <a:xfrm>
            <a:off x="1634316" y="852823"/>
            <a:ext cx="870111" cy="230832"/>
          </a:xfrm>
          <a:prstGeom prst="round2Diag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b="1" kern="0" dirty="0">
                <a:solidFill>
                  <a:prstClr val="black"/>
                </a:solidFill>
                <a:latin typeface="Aptos" panose="02110004020202020204"/>
                <a:ea typeface="Calibri" pitchFamily="34" charset="-122"/>
                <a:cs typeface="Calibri" pitchFamily="34" charset="-120"/>
              </a:rPr>
              <a:t>Cost = 793 ITEM</a:t>
            </a:r>
          </a:p>
        </p:txBody>
      </p:sp>
    </p:spTree>
    <p:extLst>
      <p:ext uri="{BB962C8B-B14F-4D97-AF65-F5344CB8AC3E}">
        <p14:creationId xmlns:p14="http://schemas.microsoft.com/office/powerpoint/2010/main" val="367872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6" grpId="0">
        <p:bldAsOne/>
      </p:bldGraphic>
      <p:bldGraphic spid="7" grpId="0">
        <p:bldAsOne/>
      </p:bldGraphic>
      <p:bldGraphic spid="8" grpId="0">
        <p:bldAsOne/>
      </p:bldGraphic>
      <p:bldP spid="16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C7B313-9D26-5904-E20C-18AA3D611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C80F46E-B90B-21CE-C6F9-C0E6E83A3E6E}"/>
              </a:ext>
            </a:extLst>
          </p:cNvPr>
          <p:cNvSpPr/>
          <p:nvPr/>
        </p:nvSpPr>
        <p:spPr>
          <a:xfrm>
            <a:off x="0" y="0"/>
            <a:ext cx="9144000" cy="261268"/>
          </a:xfrm>
          <a:prstGeom prst="rect">
            <a:avLst/>
          </a:prstGeom>
          <a:solidFill>
            <a:srgbClr val="0864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6DECEE-200F-6366-913E-A41B1971DBAF}"/>
              </a:ext>
            </a:extLst>
          </p:cNvPr>
          <p:cNvSpPr/>
          <p:nvPr/>
        </p:nvSpPr>
        <p:spPr>
          <a:xfrm>
            <a:off x="0" y="-1"/>
            <a:ext cx="9144000" cy="243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80A1CEC3-E703-0284-269B-315F425CB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917278"/>
              </p:ext>
            </p:extLst>
          </p:nvPr>
        </p:nvGraphicFramePr>
        <p:xfrm>
          <a:off x="457200" y="1030986"/>
          <a:ext cx="8229600" cy="308152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0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0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0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0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0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PIDIHUB production hub (SEABED)</a:t>
                      </a:r>
                      <a:endParaRPr lang="en-US" sz="105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</a:t>
                      </a:r>
                      <a:endParaRPr lang="en-US" sz="105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VWLTESTIMWHOUSE : 1521</a:t>
                      </a:r>
                      <a:endParaRPr lang="en-US" sz="105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TPEARL</a:t>
                      </a:r>
                      <a:endParaRPr lang="en-US" sz="105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PIDIHUB_USR</a:t>
                      </a:r>
                      <a:endParaRPr lang="en-US" sz="105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PIDIHUB_PROJ</a:t>
                      </a:r>
                      <a:endParaRPr lang="en-US" sz="105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allocation, PGOR well tests, DCP night figures, workover history, injection, forecasts</a:t>
                      </a:r>
                      <a:endParaRPr lang="en-US" sz="105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eBEAMS (Maximo)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ebeamsrepdbd : 1531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MAXREP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and lease contract expenses, materials, fuel, utility invoices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WSMS hub (TSMS)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mvcswsg11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WSMS_HUB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PlanningSchema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Rigless jobs, MBO operable report 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 by PIG today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centralized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Asset-area, GC-asset, ops team, field names, gas wells, material grouping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Financials (GL)</a:t>
                      </a:r>
                      <a:endParaRPr lang="en-US" sz="105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</a:t>
                      </a:r>
                      <a:endParaRPr lang="en-US" sz="105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for phase 2</a:t>
                      </a:r>
                      <a:endParaRPr lang="en-US" sz="105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</a:t>
                      </a:r>
                      <a:endParaRPr lang="en-US" sz="105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 accounts and activities for full cost per BOE</a:t>
                      </a:r>
                      <a:endParaRPr lang="en-US" sz="105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1020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864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KOC EXPENCESS &amp; COST/BOE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846851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EEF4F9"/>
          </a:solidFill>
          <a:ln w="9525">
            <a:solidFill>
              <a:srgbClr val="C6D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46851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2024/25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188720" y="846851"/>
            <a:ext cx="1393546" cy="274320"/>
          </a:xfrm>
          <a:prstGeom prst="roundRect">
            <a:avLst>
              <a:gd name="adj" fmla="val 50000"/>
            </a:avLst>
          </a:prstGeom>
          <a:solidFill>
            <a:srgbClr val="EEF4F9"/>
          </a:solidFill>
          <a:ln w="9525">
            <a:solidFill>
              <a:srgbClr val="C6D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846851"/>
            <a:ext cx="1393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Directorate: SX01 S&amp;EK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91994" y="846851"/>
            <a:ext cx="1677010" cy="274320"/>
          </a:xfrm>
          <a:prstGeom prst="roundRect">
            <a:avLst>
              <a:gd name="adj" fmla="val 50000"/>
            </a:avLst>
          </a:prstGeom>
          <a:solidFill>
            <a:srgbClr val="EEF4F9"/>
          </a:solidFill>
          <a:ln w="9525">
            <a:solidFill>
              <a:srgbClr val="C6D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91994" y="846851"/>
            <a:ext cx="1677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SK01 Operations (SK)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478731" y="846851"/>
            <a:ext cx="656539" cy="274320"/>
          </a:xfrm>
          <a:prstGeom prst="roundRect">
            <a:avLst>
              <a:gd name="adj" fmla="val 50000"/>
            </a:avLst>
          </a:prstGeom>
          <a:solidFill>
            <a:srgbClr val="EEF4F9"/>
          </a:solidFill>
          <a:ln w="9525">
            <a:solidFill>
              <a:srgbClr val="C6D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78731" y="846851"/>
            <a:ext cx="656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All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244998" y="846851"/>
            <a:ext cx="883310" cy="274320"/>
          </a:xfrm>
          <a:prstGeom prst="roundRect">
            <a:avLst>
              <a:gd name="adj" fmla="val 50000"/>
            </a:avLst>
          </a:prstGeom>
          <a:solidFill>
            <a:srgbClr val="0864A4"/>
          </a:solidFill>
          <a:ln w="9525">
            <a:solidFill>
              <a:srgbClr val="0864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44998" y="846851"/>
            <a:ext cx="8833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Accounts: All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38037" y="846851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0864A4"/>
          </a:solidFill>
          <a:ln w="9525">
            <a:solidFill>
              <a:srgbClr val="0864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38037" y="846851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 All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1212611"/>
            <a:ext cx="2020824" cy="658368"/>
          </a:xfrm>
          <a:prstGeom prst="roundRect">
            <a:avLst>
              <a:gd name="adj" fmla="val 8333"/>
            </a:avLst>
          </a:prstGeom>
          <a:solidFill>
            <a:srgbClr val="EEF4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1267475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 (selection)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1468643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$412M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2496312" y="1212611"/>
            <a:ext cx="2020824" cy="658368"/>
          </a:xfrm>
          <a:prstGeom prst="roundRect">
            <a:avLst>
              <a:gd name="adj" fmla="val 8333"/>
            </a:avLst>
          </a:prstGeom>
          <a:solidFill>
            <a:srgbClr val="EEF4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06040" y="1267475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cost portion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06040" y="1468643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$268M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626864" y="1212611"/>
            <a:ext cx="2020824" cy="658368"/>
          </a:xfrm>
          <a:prstGeom prst="roundRect">
            <a:avLst>
              <a:gd name="adj" fmla="val 8333"/>
            </a:avLst>
          </a:prstGeom>
          <a:solidFill>
            <a:srgbClr val="EEF4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36592" y="1267475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Operational (Overhead and DD&amp;A)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36592" y="1468643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$144M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757416" y="1212611"/>
            <a:ext cx="2020824" cy="658368"/>
          </a:xfrm>
          <a:prstGeom prst="roundRect">
            <a:avLst>
              <a:gd name="adj" fmla="val 8333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67144" y="1267475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BOE 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67144" y="1468643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$4.90 </a:t>
            </a:r>
            <a:endParaRPr lang="en-US" sz="1700" dirty="0">
              <a:solidFill>
                <a:srgbClr val="FF0000"/>
              </a:solidFill>
            </a:endParaRPr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080683"/>
              </p:ext>
            </p:extLst>
          </p:nvPr>
        </p:nvGraphicFramePr>
        <p:xfrm>
          <a:off x="365760" y="3053065"/>
          <a:ext cx="8412480" cy="16459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group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0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– Operate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0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– Maintain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0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– Workover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0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– General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0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 / TWN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0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0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71010100 Employee Costs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72010301 WO Expenses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75009100 Social Activities Expenses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79010010 (LAND) DD&amp;A 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01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6" name="Shape 9">
            <a:extLst>
              <a:ext uri="{FF2B5EF4-FFF2-40B4-BE49-F238E27FC236}">
                <a16:creationId xmlns:a16="http://schemas.microsoft.com/office/drawing/2014/main" id="{5B76B2EA-B5E1-7FBD-B6C5-099872B9F27A}"/>
              </a:ext>
            </a:extLst>
          </p:cNvPr>
          <p:cNvSpPr/>
          <p:nvPr/>
        </p:nvSpPr>
        <p:spPr>
          <a:xfrm>
            <a:off x="7384694" y="837707"/>
            <a:ext cx="1393546" cy="274320"/>
          </a:xfrm>
          <a:prstGeom prst="roundRect">
            <a:avLst>
              <a:gd name="adj" fmla="val 50000"/>
            </a:avLst>
          </a:prstGeom>
          <a:solidFill>
            <a:srgbClr val="EEF4F9"/>
          </a:solidFill>
          <a:ln w="9525">
            <a:solidFill>
              <a:srgbClr val="C6D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F4EE2B0D-D0A0-AA4A-DAB0-EA62F8E6FF51}"/>
              </a:ext>
            </a:extLst>
          </p:cNvPr>
          <p:cNvSpPr/>
          <p:nvPr/>
        </p:nvSpPr>
        <p:spPr>
          <a:xfrm>
            <a:off x="7384694" y="837707"/>
            <a:ext cx="1393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Allocation</a:t>
            </a:r>
            <a:endParaRPr lang="en-US" sz="850" dirty="0"/>
          </a:p>
        </p:txBody>
      </p:sp>
      <p:sp>
        <p:nvSpPr>
          <p:cNvPr id="39" name="Shape 24">
            <a:extLst>
              <a:ext uri="{FF2B5EF4-FFF2-40B4-BE49-F238E27FC236}">
                <a16:creationId xmlns:a16="http://schemas.microsoft.com/office/drawing/2014/main" id="{BDF139E5-8E87-0986-CF9E-F6F5FF7AB528}"/>
              </a:ext>
            </a:extLst>
          </p:cNvPr>
          <p:cNvSpPr/>
          <p:nvPr/>
        </p:nvSpPr>
        <p:spPr>
          <a:xfrm>
            <a:off x="6757416" y="2072147"/>
            <a:ext cx="2020824" cy="658368"/>
          </a:xfrm>
          <a:prstGeom prst="roundRect">
            <a:avLst>
              <a:gd name="adj" fmla="val 8333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8B7E7459-E6D4-B554-EBA3-EB2B347E7101}"/>
              </a:ext>
            </a:extLst>
          </p:cNvPr>
          <p:cNvSpPr/>
          <p:nvPr/>
        </p:nvSpPr>
        <p:spPr>
          <a:xfrm>
            <a:off x="6867144" y="2127011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Cost Per BOE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41" name="Text 26">
            <a:extLst>
              <a:ext uri="{FF2B5EF4-FFF2-40B4-BE49-F238E27FC236}">
                <a16:creationId xmlns:a16="http://schemas.microsoft.com/office/drawing/2014/main" id="{C89B96A4-FE84-6C1A-DB03-953D90C8BB55}"/>
              </a:ext>
            </a:extLst>
          </p:cNvPr>
          <p:cNvSpPr/>
          <p:nvPr/>
        </p:nvSpPr>
        <p:spPr>
          <a:xfrm>
            <a:off x="6867144" y="2328179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$3.19</a:t>
            </a:r>
            <a:endParaRPr lang="en-US" sz="17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4784A4-EDA0-AB65-C6DF-F3CF3128E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DE8505-922C-9A69-35C8-43AA8FB83051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864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0B8AF8-C2B0-4BB4-2DDA-DBC879BBE837}"/>
              </a:ext>
            </a:extLst>
          </p:cNvPr>
          <p:cNvSpPr/>
          <p:nvPr/>
        </p:nvSpPr>
        <p:spPr>
          <a:xfrm>
            <a:off x="365760" y="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WELLS INTERFACE 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172551-C9F9-4307-D3FC-61AD3FD156BB}"/>
              </a:ext>
            </a:extLst>
          </p:cNvPr>
          <p:cNvSpPr/>
          <p:nvPr/>
        </p:nvSpPr>
        <p:spPr>
          <a:xfrm>
            <a:off x="365760" y="773106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EEF4F9"/>
          </a:solidFill>
          <a:ln w="9525">
            <a:solidFill>
              <a:srgbClr val="C6D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B4C567C-8160-854F-1908-2ACEA7FB8562}"/>
              </a:ext>
            </a:extLst>
          </p:cNvPr>
          <p:cNvSpPr/>
          <p:nvPr/>
        </p:nvSpPr>
        <p:spPr>
          <a:xfrm>
            <a:off x="365760" y="77310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2024/25</a:t>
            </a:r>
            <a:endParaRPr lang="en-US" sz="8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E954C6E-9491-EB0B-08A6-C48B56DC6A9B}"/>
              </a:ext>
            </a:extLst>
          </p:cNvPr>
          <p:cNvSpPr/>
          <p:nvPr/>
        </p:nvSpPr>
        <p:spPr>
          <a:xfrm>
            <a:off x="1188720" y="773106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EEF4F9"/>
          </a:solidFill>
          <a:ln w="9525">
            <a:solidFill>
              <a:srgbClr val="C6D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7882174-A332-436C-404B-0474BBC7A10C}"/>
              </a:ext>
            </a:extLst>
          </p:cNvPr>
          <p:cNvSpPr/>
          <p:nvPr/>
        </p:nvSpPr>
        <p:spPr>
          <a:xfrm>
            <a:off x="1188720" y="77310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Asset: All</a:t>
            </a:r>
            <a:endParaRPr lang="en-US" sz="8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D46C812-CC23-9DD5-328A-8E1DF4423CDC}"/>
              </a:ext>
            </a:extLst>
          </p:cNvPr>
          <p:cNvSpPr/>
          <p:nvPr/>
        </p:nvSpPr>
        <p:spPr>
          <a:xfrm>
            <a:off x="2011680" y="773106"/>
            <a:ext cx="940003" cy="274320"/>
          </a:xfrm>
          <a:prstGeom prst="roundRect">
            <a:avLst>
              <a:gd name="adj" fmla="val 50000"/>
            </a:avLst>
          </a:prstGeom>
          <a:solidFill>
            <a:srgbClr val="EEF4F9"/>
          </a:solidFill>
          <a:ln w="9525">
            <a:solidFill>
              <a:srgbClr val="C6D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C6C8EFC-78A6-589C-4BC6-647DE969F8BF}"/>
              </a:ext>
            </a:extLst>
          </p:cNvPr>
          <p:cNvSpPr/>
          <p:nvPr/>
        </p:nvSpPr>
        <p:spPr>
          <a:xfrm>
            <a:off x="2011680" y="773106"/>
            <a:ext cx="940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type: All</a:t>
            </a:r>
            <a:endParaRPr lang="en-US" sz="8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4CE67CE-93FE-7909-04AA-637AFB80298F}"/>
              </a:ext>
            </a:extLst>
          </p:cNvPr>
          <p:cNvSpPr/>
          <p:nvPr/>
        </p:nvSpPr>
        <p:spPr>
          <a:xfrm>
            <a:off x="3061411" y="773106"/>
            <a:ext cx="1393546" cy="274320"/>
          </a:xfrm>
          <a:prstGeom prst="roundRect">
            <a:avLst>
              <a:gd name="adj" fmla="val 50000"/>
            </a:avLst>
          </a:prstGeom>
          <a:solidFill>
            <a:srgbClr val="EEF4F9"/>
          </a:solidFill>
          <a:ln w="9525">
            <a:solidFill>
              <a:srgbClr val="C6D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D762D0B-7336-27A9-FC76-FC18368B5B3A}"/>
              </a:ext>
            </a:extLst>
          </p:cNvPr>
          <p:cNvSpPr/>
          <p:nvPr/>
        </p:nvSpPr>
        <p:spPr>
          <a:xfrm>
            <a:off x="3061411" y="773106"/>
            <a:ext cx="1393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Allocation</a:t>
            </a:r>
            <a:endParaRPr lang="en-US" sz="8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ABD169A-4231-B678-98BC-75B238F3658A}"/>
              </a:ext>
            </a:extLst>
          </p:cNvPr>
          <p:cNvSpPr/>
          <p:nvPr/>
        </p:nvSpPr>
        <p:spPr>
          <a:xfrm>
            <a:off x="4564685" y="773106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EEF4F9"/>
          </a:solidFill>
          <a:ln w="9525">
            <a:solidFill>
              <a:srgbClr val="C6D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3872055-FAE8-DF4D-2BF8-293823312021}"/>
              </a:ext>
            </a:extLst>
          </p:cNvPr>
          <p:cNvSpPr/>
          <p:nvPr/>
        </p:nvSpPr>
        <p:spPr>
          <a:xfrm>
            <a:off x="4564685" y="77310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Field: All</a:t>
            </a:r>
            <a:endParaRPr lang="en-US" sz="8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8F0EBBD-FBAE-BCC7-0BFA-CE748B3851B4}"/>
              </a:ext>
            </a:extLst>
          </p:cNvPr>
          <p:cNvSpPr/>
          <p:nvPr/>
        </p:nvSpPr>
        <p:spPr>
          <a:xfrm>
            <a:off x="5387645" y="773106"/>
            <a:ext cx="1677010" cy="274320"/>
          </a:xfrm>
          <a:prstGeom prst="roundRect">
            <a:avLst>
              <a:gd name="adj" fmla="val 50000"/>
            </a:avLst>
          </a:prstGeom>
          <a:solidFill>
            <a:srgbClr val="0864A4"/>
          </a:solidFill>
          <a:ln w="9525">
            <a:solidFill>
              <a:srgbClr val="0864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6AD4359-91AA-59F1-0BDB-7BC8415EB694}"/>
              </a:ext>
            </a:extLst>
          </p:cNvPr>
          <p:cNvSpPr/>
          <p:nvPr/>
        </p:nvSpPr>
        <p:spPr>
          <a:xfrm>
            <a:off x="5387645" y="773106"/>
            <a:ext cx="1677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Cost/bbl threshold: $15/bbl</a:t>
            </a:r>
            <a:endParaRPr lang="en-US" sz="8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1354B4D-F831-DC92-5B94-5640389D9635}"/>
              </a:ext>
            </a:extLst>
          </p:cNvPr>
          <p:cNvSpPr/>
          <p:nvPr/>
        </p:nvSpPr>
        <p:spPr>
          <a:xfrm>
            <a:off x="365760" y="1138866"/>
            <a:ext cx="2020824" cy="658368"/>
          </a:xfrm>
          <a:prstGeom prst="roundRect">
            <a:avLst>
              <a:gd name="adj" fmla="val 8333"/>
            </a:avLst>
          </a:prstGeom>
          <a:solidFill>
            <a:srgbClr val="EEF4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2A15AC7-B0E3-1032-FE1F-F30CE1AA326B}"/>
              </a:ext>
            </a:extLst>
          </p:cNvPr>
          <p:cNvSpPr/>
          <p:nvPr/>
        </p:nvSpPr>
        <p:spPr>
          <a:xfrm>
            <a:off x="475488" y="119373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OPEX FY 2024/25</a:t>
            </a:r>
            <a:endParaRPr lang="en-US" sz="9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EF5A747-4501-4AD6-5F1F-8194853A3BB1}"/>
              </a:ext>
            </a:extLst>
          </p:cNvPr>
          <p:cNvSpPr/>
          <p:nvPr/>
        </p:nvSpPr>
        <p:spPr>
          <a:xfrm>
            <a:off x="475488" y="139489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$2.4bn</a:t>
            </a:r>
            <a:endParaRPr lang="en-US" sz="17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3358958-A7B2-4655-BD81-FF931533103B}"/>
              </a:ext>
            </a:extLst>
          </p:cNvPr>
          <p:cNvSpPr/>
          <p:nvPr/>
        </p:nvSpPr>
        <p:spPr>
          <a:xfrm>
            <a:off x="2496312" y="1138866"/>
            <a:ext cx="2020824" cy="658368"/>
          </a:xfrm>
          <a:prstGeom prst="roundRect">
            <a:avLst>
              <a:gd name="adj" fmla="val 8333"/>
            </a:avLst>
          </a:prstGeom>
          <a:solidFill>
            <a:srgbClr val="EEF4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67F5E92-CAC3-4ACF-4C6C-56F00A0F5C24}"/>
              </a:ext>
            </a:extLst>
          </p:cNvPr>
          <p:cNvSpPr/>
          <p:nvPr/>
        </p:nvSpPr>
        <p:spPr>
          <a:xfrm>
            <a:off x="2606040" y="119373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per BOE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BF69376-7B80-8F9C-B870-FAAA5DCE553D}"/>
              </a:ext>
            </a:extLst>
          </p:cNvPr>
          <p:cNvSpPr/>
          <p:nvPr/>
        </p:nvSpPr>
        <p:spPr>
          <a:xfrm>
            <a:off x="2606040" y="139489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$1.35</a:t>
            </a:r>
            <a:endParaRPr lang="en-US" sz="17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81F3D2F-4F32-87F4-8921-1AAD240AB93C}"/>
              </a:ext>
            </a:extLst>
          </p:cNvPr>
          <p:cNvSpPr/>
          <p:nvPr/>
        </p:nvSpPr>
        <p:spPr>
          <a:xfrm>
            <a:off x="4626864" y="1138866"/>
            <a:ext cx="2020824" cy="658368"/>
          </a:xfrm>
          <a:prstGeom prst="roundRect">
            <a:avLst>
              <a:gd name="adj" fmla="val 8333"/>
            </a:avLst>
          </a:prstGeom>
          <a:solidFill>
            <a:srgbClr val="FCEB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7062C25-B621-BAD6-EFCA-DBAFB47C1359}"/>
              </a:ext>
            </a:extLst>
          </p:cNvPr>
          <p:cNvSpPr/>
          <p:nvPr/>
        </p:nvSpPr>
        <p:spPr>
          <a:xfrm>
            <a:off x="4736592" y="119373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above threshold</a:t>
            </a:r>
            <a:endParaRPr lang="en-US" sz="9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A681355-9999-7455-7B71-EA6B2A24B55E}"/>
              </a:ext>
            </a:extLst>
          </p:cNvPr>
          <p:cNvSpPr/>
          <p:nvPr/>
        </p:nvSpPr>
        <p:spPr>
          <a:xfrm>
            <a:off x="4736592" y="139489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</a:t>
            </a:r>
            <a:endParaRPr lang="en-US" sz="17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142A928-56DD-3824-3DC9-CE736BAAEA1D}"/>
              </a:ext>
            </a:extLst>
          </p:cNvPr>
          <p:cNvSpPr/>
          <p:nvPr/>
        </p:nvSpPr>
        <p:spPr>
          <a:xfrm>
            <a:off x="6757416" y="1138866"/>
            <a:ext cx="2020824" cy="658368"/>
          </a:xfrm>
          <a:prstGeom prst="roundRect">
            <a:avLst>
              <a:gd name="adj" fmla="val 8333"/>
            </a:avLst>
          </a:prstGeom>
          <a:solidFill>
            <a:srgbClr val="EEF4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2532B56-1A70-AB7E-0D1C-3438EFC5F7C1}"/>
              </a:ext>
            </a:extLst>
          </p:cNvPr>
          <p:cNvSpPr/>
          <p:nvPr/>
        </p:nvSpPr>
        <p:spPr>
          <a:xfrm>
            <a:off x="6867144" y="1193730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above threshold</a:t>
            </a:r>
            <a:endParaRPr lang="en-US" sz="9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343A966-9D69-AB83-0018-8A869DA63270}"/>
              </a:ext>
            </a:extLst>
          </p:cNvPr>
          <p:cNvSpPr/>
          <p:nvPr/>
        </p:nvSpPr>
        <p:spPr>
          <a:xfrm>
            <a:off x="6867144" y="139489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$185M</a:t>
            </a:r>
            <a:endParaRPr lang="en-US" sz="17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AE1E87A-F7EE-1DE2-00B1-732BF41D281B}"/>
              </a:ext>
            </a:extLst>
          </p:cNvPr>
          <p:cNvSpPr/>
          <p:nvPr/>
        </p:nvSpPr>
        <p:spPr>
          <a:xfrm>
            <a:off x="365760" y="192525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ranked by cost per BOE — insight: the intervention shortlist; red bars breach the threshold</a:t>
            </a:r>
            <a:endParaRPr lang="en-US" sz="95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761D929C-CC97-C306-9348-44A443BF98DE}"/>
              </a:ext>
            </a:extLst>
          </p:cNvPr>
          <p:cNvSpPr/>
          <p:nvPr/>
        </p:nvSpPr>
        <p:spPr>
          <a:xfrm>
            <a:off x="4846320" y="192525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cost per BOE by fiscal year — insight: actual against target</a:t>
            </a:r>
            <a:endParaRPr lang="en-US" sz="9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DEBAE8D-7CAD-7700-01F6-B36B04BA9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42" y="2721017"/>
            <a:ext cx="2695651" cy="178018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C4B7A0C-17A5-4276-1FAE-A7A1A71DF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4794" y="2721017"/>
            <a:ext cx="2796179" cy="178018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D46F09F-10D4-2530-E16C-0876CE7A59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247" y="2721017"/>
            <a:ext cx="2680903" cy="17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771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864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FACILITIES INTERFACE 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603504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EEF4F9"/>
          </a:solidFill>
          <a:ln w="9525">
            <a:solidFill>
              <a:srgbClr val="C6D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0350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2024/25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188720" y="603504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EEF4F9"/>
          </a:solidFill>
          <a:ln w="9525">
            <a:solidFill>
              <a:srgbClr val="C6D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60350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Asset: All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0" y="603504"/>
            <a:ext cx="1166774" cy="274320"/>
          </a:xfrm>
          <a:prstGeom prst="roundRect">
            <a:avLst>
              <a:gd name="adj" fmla="val 50000"/>
            </a:avLst>
          </a:prstGeom>
          <a:solidFill>
            <a:srgbClr val="EEF4F9"/>
          </a:solidFill>
          <a:ln w="9525">
            <a:solidFill>
              <a:srgbClr val="C6D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11680" y="603504"/>
            <a:ext cx="11667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type: All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88182" y="603504"/>
            <a:ext cx="1733702" cy="274320"/>
          </a:xfrm>
          <a:prstGeom prst="roundRect">
            <a:avLst>
              <a:gd name="adj" fmla="val 50000"/>
            </a:avLst>
          </a:prstGeom>
          <a:solidFill>
            <a:srgbClr val="EEF4F9"/>
          </a:solidFill>
          <a:ln w="9525">
            <a:solidFill>
              <a:srgbClr val="C6D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88182" y="603504"/>
            <a:ext cx="17337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DCP night figure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31613" y="603504"/>
            <a:ext cx="1620317" cy="274320"/>
          </a:xfrm>
          <a:prstGeom prst="roundRect">
            <a:avLst>
              <a:gd name="adj" fmla="val 50000"/>
            </a:avLst>
          </a:prstGeom>
          <a:solidFill>
            <a:srgbClr val="0864A4"/>
          </a:solidFill>
          <a:ln w="9525">
            <a:solidFill>
              <a:srgbClr val="0864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31613" y="603504"/>
            <a:ext cx="16203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Cost/bbl threshold: $0.35/bbl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969264"/>
            <a:ext cx="2020824" cy="658368"/>
          </a:xfrm>
          <a:prstGeom prst="roundRect">
            <a:avLst>
              <a:gd name="adj" fmla="val 8333"/>
            </a:avLst>
          </a:prstGeom>
          <a:solidFill>
            <a:srgbClr val="EEF4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1024128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OPEX FY 2024/25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1225296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$1.94bn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2496312" y="969264"/>
            <a:ext cx="2020824" cy="658368"/>
          </a:xfrm>
          <a:prstGeom prst="roundRect">
            <a:avLst>
              <a:gd name="adj" fmla="val 8333"/>
            </a:avLst>
          </a:prstGeom>
          <a:solidFill>
            <a:srgbClr val="EEF4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06040" y="1024128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06040" y="1225296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1.19bn BOE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626864" y="969264"/>
            <a:ext cx="2020824" cy="658368"/>
          </a:xfrm>
          <a:prstGeom prst="roundRect">
            <a:avLst>
              <a:gd name="adj" fmla="val 8333"/>
            </a:avLst>
          </a:prstGeom>
          <a:solidFill>
            <a:srgbClr val="EEF4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36592" y="1024128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BOE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36592" y="1225296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$1.64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57416" y="969264"/>
            <a:ext cx="2020824" cy="658368"/>
          </a:xfrm>
          <a:prstGeom prst="roundRect">
            <a:avLst>
              <a:gd name="adj" fmla="val 8333"/>
            </a:avLst>
          </a:prstGeom>
          <a:solidFill>
            <a:srgbClr val="FCEB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67144" y="1024128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above threshold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67144" y="1225296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9F8B79D-9275-E285-568A-1FBD32DAD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28499"/>
            <a:ext cx="8412480" cy="274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61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0174121-F1D8-4525-9C8E-7562A5A65297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2a7e7c1a-6be6-456a-be30-dc2ceb2fd37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600</Words>
  <Application>Microsoft Office PowerPoint</Application>
  <PresentationFormat>On-screen Show (16:9)</PresentationFormat>
  <Paragraphs>159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 per BOE application</dc:title>
  <dc:subject>PptxGenJS Presentation</dc:subject>
  <dc:creator>Production Integration Group</dc:creator>
  <cp:lastModifiedBy>Al-Haddad, Mohamad Nabil</cp:lastModifiedBy>
  <cp:revision>3</cp:revision>
  <dcterms:created xsi:type="dcterms:W3CDTF">2026-07-04T19:45:13Z</dcterms:created>
  <dcterms:modified xsi:type="dcterms:W3CDTF">2026-07-27T08:11:03Z</dcterms:modified>
</cp:coreProperties>
</file>